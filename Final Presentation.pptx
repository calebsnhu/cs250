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ECFF69E5-1C8A-4876-89C2-3F26E24EB173}" type="slidenum">
              <a:rPr lang="en-US" smtClean="0"/>
              <a:t>‹#›</a:t>
            </a:fld>
            <a:endParaRPr lang="en-US"/>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28950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D6906448-6644-46FD-82CF-C6AAC4BA6BF9}" type="datetimeFigureOut">
              <a:rPr lang="en-US" smtClean="0"/>
              <a:t>10/14/2026</a:t>
            </a:fld>
            <a:endParaRPr lang="en-US"/>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ECFF69E5-1C8A-4876-89C2-3F26E24EB173}" type="slidenum">
              <a:rPr lang="en-US" smtClean="0"/>
              <a:t>‹#›</a:t>
            </a:fld>
            <a:endParaRPr lang="en-US"/>
          </a:p>
        </p:txBody>
      </p:sp>
    </p:spTree>
    <p:extLst>
      <p:ext uri="{BB962C8B-B14F-4D97-AF65-F5344CB8AC3E}">
        <p14:creationId xmlns:p14="http://schemas.microsoft.com/office/powerpoint/2010/main" val="1488462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Tree>
    <p:extLst>
      <p:ext uri="{BB962C8B-B14F-4D97-AF65-F5344CB8AC3E}">
        <p14:creationId xmlns:p14="http://schemas.microsoft.com/office/powerpoint/2010/main" val="21541321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03058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ECFF69E5-1C8A-4876-89C2-3F26E24EB173}" type="slidenum">
              <a:rPr lang="en-US" smtClean="0"/>
              <a:t>‹#›</a:t>
            </a:fld>
            <a:endParaRPr lang="en-US"/>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7629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911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D6906448-6644-46FD-82CF-C6AAC4BA6BF9}" type="datetimeFigureOut">
              <a:rPr lang="en-US" smtClean="0"/>
              <a:t>10/14/2026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ECFF69E5-1C8A-4876-89C2-3F26E24EB173}" type="slidenum">
              <a:rPr lang="en-US" smtClean="0"/>
              <a:t>‹#›</a:t>
            </a:fld>
            <a:endParaRPr lang="en-US"/>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7178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ECFF69E5-1C8A-4876-89C2-3F26E24EB173}" type="slidenum">
              <a:rPr lang="en-US" smtClean="0"/>
              <a:t>‹#›</a:t>
            </a:fld>
            <a:endParaRPr lang="en-US"/>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746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ECFF69E5-1C8A-4876-89C2-3F26E24EB173}" type="slidenum">
              <a:rPr lang="en-US" smtClean="0"/>
              <a:t>‹#›</a:t>
            </a:fld>
            <a:endParaRPr lang="en-US"/>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2676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7855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39736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1914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ECFF69E5-1C8A-4876-89C2-3F26E24EB17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59819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46713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D6906448-6644-46FD-82CF-C6AAC4BA6BF9}" type="datetimeFigureOut">
              <a:rPr lang="en-US" smtClean="0"/>
              <a:t>10/14/2026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381320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Tree>
    <p:extLst>
      <p:ext uri="{BB962C8B-B14F-4D97-AF65-F5344CB8AC3E}">
        <p14:creationId xmlns:p14="http://schemas.microsoft.com/office/powerpoint/2010/main" val="7872512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3986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62308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D6906448-6644-46FD-82CF-C6AAC4BA6BF9}" type="datetimeFigureOut">
              <a:rPr lang="en-US" smtClean="0"/>
              <a:t>10/14/2026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ECFF69E5-1C8A-4876-89C2-3F26E24EB173}" type="slidenum">
              <a:rPr lang="en-US" smtClean="0"/>
              <a:t>‹#›</a:t>
            </a:fld>
            <a:endParaRPr lang="en-US"/>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380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D6906448-6644-46FD-82CF-C6AAC4BA6BF9}" type="datetimeFigureOut">
              <a:rPr lang="en-US" smtClean="0"/>
              <a:t>10/14/2026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ECFF69E5-1C8A-4876-89C2-3F26E24EB173}" type="slidenum">
              <a:rPr lang="en-US" smtClean="0"/>
              <a:t>‹#›</a:t>
            </a:fld>
            <a:endParaRPr lang="en-US"/>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8855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D6906448-6644-46FD-82CF-C6AAC4BA6BF9}" type="datetimeFigureOut">
              <a:rPr lang="en-US" smtClean="0"/>
              <a:t>10/14/2026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ECFF69E5-1C8A-4876-89C2-3F26E24EB173}" type="slidenum">
              <a:rPr lang="en-US" smtClean="0"/>
              <a:t>‹#›</a:t>
            </a:fld>
            <a:endParaRPr lang="en-US"/>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3335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D6906448-6644-46FD-82CF-C6AAC4BA6BF9}" type="datetimeFigureOut">
              <a:rPr lang="en-US" smtClean="0"/>
              <a:t>10/14/2026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ECFF69E5-1C8A-4876-89C2-3F26E24EB173}"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756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D6906448-6644-46FD-82CF-C6AAC4BA6BF9}" type="datetimeFigureOut">
              <a:rPr lang="en-US" smtClean="0"/>
              <a:t>10/14/2026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ECFF69E5-1C8A-4876-89C2-3F26E24EB173}"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192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2364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D6906448-6644-46FD-82CF-C6AAC4BA6BF9}" type="datetimeFigureOut">
              <a:rPr lang="en-US" smtClean="0"/>
              <a:t>10/14/2026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ECFF69E5-1C8A-4876-89C2-3F26E24EB173}" type="slidenum">
              <a:rPr lang="en-US" smtClean="0"/>
              <a:t>‹#›</a:t>
            </a:fld>
            <a:endParaRPr lang="en-US"/>
          </a:p>
        </p:txBody>
      </p:sp>
    </p:spTree>
    <p:extLst>
      <p:ext uri="{BB962C8B-B14F-4D97-AF65-F5344CB8AC3E}">
        <p14:creationId xmlns:p14="http://schemas.microsoft.com/office/powerpoint/2010/main" val="18226926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266236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ECFF69E5-1C8A-4876-89C2-3F26E24EB173}" type="slidenum">
              <a:rPr lang="en-US" smtClean="0"/>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275521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D6906448-6644-46FD-82CF-C6AAC4BA6BF9}" type="datetimeFigureOut">
              <a:rPr lang="en-US" smtClean="0"/>
              <a:t>10/14/2026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ECFF69E5-1C8A-4876-89C2-3F26E24EB173}" type="slidenum">
              <a:rPr lang="en-US" smtClean="0"/>
              <a:t>‹#›</a:t>
            </a:fld>
            <a:endParaRPr lang="en-US"/>
          </a:p>
        </p:txBody>
      </p:sp>
    </p:spTree>
    <p:extLst>
      <p:ext uri="{BB962C8B-B14F-4D97-AF65-F5344CB8AC3E}">
        <p14:creationId xmlns:p14="http://schemas.microsoft.com/office/powerpoint/2010/main" val="78385030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journals.directresearchpublisher.org/index.php/drjeit/article/view/769" TargetMode="External"/><Relationship Id="rId2" Type="http://schemas.openxmlformats.org/officeDocument/2006/relationships/hyperlink" Target="https://www.mendix.com/blog/agile-software-development-lifecycle-stages/" TargetMode="External"/><Relationship Id="rId1" Type="http://schemas.openxmlformats.org/officeDocument/2006/relationships/slideLayout" Target="../slideLayouts/slideLayout2.xml"/><Relationship Id="rId4" Type="http://schemas.openxmlformats.org/officeDocument/2006/relationships/hyperlink" Target="https://papers.ssrn.com/sol3/papers.cfm?abstract_id=616065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3CCD5-FBB6-37C5-35A9-DF842D6B85EA}"/>
              </a:ext>
            </a:extLst>
          </p:cNvPr>
          <p:cNvSpPr>
            <a:spLocks noGrp="1"/>
          </p:cNvSpPr>
          <p:nvPr>
            <p:ph type="ctrTitle"/>
          </p:nvPr>
        </p:nvSpPr>
        <p:spPr>
          <a:xfrm>
            <a:off x="628650" y="1626226"/>
            <a:ext cx="10934700" cy="725487"/>
          </a:xfrm>
        </p:spPr>
        <p:txBody>
          <a:bodyPr>
            <a:normAutofit fontScale="90000"/>
          </a:bodyPr>
          <a:lstStyle/>
          <a:p>
            <a:r>
              <a:rPr lang="en-US" dirty="0"/>
              <a:t>Agile Transition Recap</a:t>
            </a:r>
          </a:p>
        </p:txBody>
      </p:sp>
      <p:sp>
        <p:nvSpPr>
          <p:cNvPr id="3" name="Subtitle 2">
            <a:extLst>
              <a:ext uri="{FF2B5EF4-FFF2-40B4-BE49-F238E27FC236}">
                <a16:creationId xmlns:a16="http://schemas.microsoft.com/office/drawing/2014/main" id="{8E67A5DE-6F20-3D82-F388-7C430D1C9C43}"/>
              </a:ext>
            </a:extLst>
          </p:cNvPr>
          <p:cNvSpPr>
            <a:spLocks noGrp="1"/>
          </p:cNvSpPr>
          <p:nvPr>
            <p:ph type="subTitle" idx="1"/>
          </p:nvPr>
        </p:nvSpPr>
        <p:spPr/>
        <p:txBody>
          <a:bodyPr/>
          <a:lstStyle/>
          <a:p>
            <a:r>
              <a:rPr lang="en-US" dirty="0"/>
              <a:t>By Caleb Byrd</a:t>
            </a:r>
          </a:p>
        </p:txBody>
      </p:sp>
    </p:spTree>
    <p:extLst>
      <p:ext uri="{BB962C8B-B14F-4D97-AF65-F5344CB8AC3E}">
        <p14:creationId xmlns:p14="http://schemas.microsoft.com/office/powerpoint/2010/main" val="472253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0E62-8FFC-2D17-EBE4-A696D0F0733D}"/>
              </a:ext>
            </a:extLst>
          </p:cNvPr>
          <p:cNvSpPr>
            <a:spLocks noGrp="1"/>
          </p:cNvSpPr>
          <p:nvPr>
            <p:ph type="title"/>
          </p:nvPr>
        </p:nvSpPr>
        <p:spPr/>
        <p:txBody>
          <a:bodyPr/>
          <a:lstStyle/>
          <a:p>
            <a:r>
              <a:rPr lang="en-US" cap="none" dirty="0"/>
              <a:t>Agile Roles</a:t>
            </a:r>
          </a:p>
        </p:txBody>
      </p:sp>
      <p:sp>
        <p:nvSpPr>
          <p:cNvPr id="3" name="Content Placeholder 2">
            <a:extLst>
              <a:ext uri="{FF2B5EF4-FFF2-40B4-BE49-F238E27FC236}">
                <a16:creationId xmlns:a16="http://schemas.microsoft.com/office/drawing/2014/main" id="{0BC37059-21E5-7B2B-6E78-8B79BFCC814A}"/>
              </a:ext>
            </a:extLst>
          </p:cNvPr>
          <p:cNvSpPr>
            <a:spLocks noGrp="1"/>
          </p:cNvSpPr>
          <p:nvPr>
            <p:ph idx="1"/>
          </p:nvPr>
        </p:nvSpPr>
        <p:spPr/>
        <p:txBody>
          <a:bodyPr>
            <a:normAutofit/>
          </a:bodyPr>
          <a:lstStyle/>
          <a:p>
            <a:pPr lvl="0"/>
            <a:r>
              <a:rPr lang="en-US" sz="2000" b="1" dirty="0"/>
              <a:t>Product Owner: </a:t>
            </a:r>
            <a:r>
              <a:rPr lang="en-US" sz="2000" dirty="0"/>
              <a:t>Represents business stakeholders and customers. Holds sole accountability for managing and prioritizing the product backlog to ensure the engineering team delivers maximum business value per iteration by owning, prioritizing and clarifying the needs of the end user.</a:t>
            </a:r>
          </a:p>
          <a:p>
            <a:pPr lvl="0"/>
            <a:r>
              <a:rPr lang="en-US" sz="2000" b="1" dirty="0"/>
              <a:t>Scrum Master:</a:t>
            </a:r>
            <a:r>
              <a:rPr lang="en-US" sz="2000" dirty="0"/>
              <a:t> Responsible for coaching the team on Scrum processes and facilitating communication and accountability. They actively seek to eliminate operational impediments and maintain the sprint bandwidth to prevent an overload or lack of available work.</a:t>
            </a:r>
          </a:p>
          <a:p>
            <a:pPr lvl="0"/>
            <a:r>
              <a:rPr lang="en-US" sz="2000" b="1" dirty="0"/>
              <a:t>Tester(s):</a:t>
            </a:r>
            <a:r>
              <a:rPr lang="en-US" sz="2000" dirty="0"/>
              <a:t> Ensure a robust and resilient application that fulfills the goals laid out by the Product Owner. Builds automated test suites as well as performs sprint level manual testing to validate functionality and prevent technical debt.</a:t>
            </a:r>
          </a:p>
          <a:p>
            <a:pPr lvl="0"/>
            <a:r>
              <a:rPr lang="en-US" sz="2000" b="1" dirty="0"/>
              <a:t>Development Team:</a:t>
            </a:r>
            <a:r>
              <a:rPr lang="en-US" sz="2000" dirty="0"/>
              <a:t> Encompasses all disciplines of the design and engineering process, this group builds the application based on the stories defined by the Product Owner with the intent to ship a functional unit of progress each sprint. </a:t>
            </a:r>
          </a:p>
        </p:txBody>
      </p:sp>
    </p:spTree>
    <p:extLst>
      <p:ext uri="{BB962C8B-B14F-4D97-AF65-F5344CB8AC3E}">
        <p14:creationId xmlns:p14="http://schemas.microsoft.com/office/powerpoint/2010/main" val="3317589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868C-DD25-0762-F6DE-1689DB72A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0C0D6-845E-38A1-F9ED-4323DB49F527}"/>
              </a:ext>
            </a:extLst>
          </p:cNvPr>
          <p:cNvSpPr>
            <a:spLocks noGrp="1"/>
          </p:cNvSpPr>
          <p:nvPr>
            <p:ph type="title"/>
          </p:nvPr>
        </p:nvSpPr>
        <p:spPr/>
        <p:txBody>
          <a:bodyPr/>
          <a:lstStyle/>
          <a:p>
            <a:r>
              <a:rPr lang="en-US" cap="none" dirty="0"/>
              <a:t>Agile Phases</a:t>
            </a:r>
          </a:p>
        </p:txBody>
      </p:sp>
      <p:sp>
        <p:nvSpPr>
          <p:cNvPr id="3" name="Content Placeholder 2">
            <a:extLst>
              <a:ext uri="{FF2B5EF4-FFF2-40B4-BE49-F238E27FC236}">
                <a16:creationId xmlns:a16="http://schemas.microsoft.com/office/drawing/2014/main" id="{D3673814-799B-05B2-470A-A41A27CFC2BF}"/>
              </a:ext>
            </a:extLst>
          </p:cNvPr>
          <p:cNvSpPr>
            <a:spLocks noGrp="1"/>
          </p:cNvSpPr>
          <p:nvPr>
            <p:ph idx="1"/>
          </p:nvPr>
        </p:nvSpPr>
        <p:spPr/>
        <p:txBody>
          <a:bodyPr>
            <a:normAutofit/>
          </a:bodyPr>
          <a:lstStyle/>
          <a:p>
            <a:pPr lvl="0"/>
            <a:r>
              <a:rPr lang="en-US" sz="2000" b="1" dirty="0"/>
              <a:t>Backlog Grooming:</a:t>
            </a:r>
            <a:r>
              <a:rPr lang="en-US" sz="2000" dirty="0"/>
              <a:t> Traditional long-term planning is replaced by modular "User Stories" prioritized based on value and technical dependencies. These stories can be iteratively processed and researched before moving into an active sprint, reducing blockers and maximizing development value.</a:t>
            </a:r>
          </a:p>
          <a:p>
            <a:pPr lvl="0"/>
            <a:r>
              <a:rPr lang="en-US" sz="2000" b="1" dirty="0"/>
              <a:t>Concurrent Development and Testing:</a:t>
            </a:r>
            <a:r>
              <a:rPr lang="en-US" sz="2000" dirty="0"/>
              <a:t> </a:t>
            </a:r>
          </a:p>
          <a:p>
            <a:pPr lvl="1"/>
            <a:r>
              <a:rPr lang="en-US" sz="2000" dirty="0"/>
              <a:t>Design is not a single front-loaded phase. Instead, high-level design and incremental coding occur simultaneously during short, time-boxed sprints (typically 2 weeks). This allows the design to adapt to changes in stakeholder needs, and reduce wasted development effort.</a:t>
            </a:r>
          </a:p>
          <a:p>
            <a:pPr lvl="1"/>
            <a:r>
              <a:rPr lang="en-US" sz="2000" dirty="0"/>
              <a:t>Testing happens concurrently with development inside the sprint rather than as a separate end-stage barrier. This drastically reduces technical debt and isolates defects early, as well as minimizing the loss of efficiency from developers needing to switch context returning to stories that were already completed. </a:t>
            </a:r>
          </a:p>
          <a:p>
            <a:pPr lvl="0"/>
            <a:r>
              <a:rPr lang="en-US" sz="2000" b="1" dirty="0"/>
              <a:t>Deployment &amp; Feedback Loop:</a:t>
            </a:r>
            <a:r>
              <a:rPr lang="en-US" sz="2000" dirty="0"/>
              <a:t> Every cycle outputs a "shippable product" demonstrated directly to stakeholders. This outputs continuous value while opening the door for direct feedback throughout the process.</a:t>
            </a:r>
          </a:p>
          <a:p>
            <a:pPr lvl="0"/>
            <a:endParaRPr lang="en-US" sz="2000" dirty="0"/>
          </a:p>
        </p:txBody>
      </p:sp>
    </p:spTree>
    <p:extLst>
      <p:ext uri="{BB962C8B-B14F-4D97-AF65-F5344CB8AC3E}">
        <p14:creationId xmlns:p14="http://schemas.microsoft.com/office/powerpoint/2010/main" val="3534947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9D3D2-AA32-F00D-E232-EF247EBAF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8200A-91D9-1E93-88BC-0E2D06B81BFD}"/>
              </a:ext>
            </a:extLst>
          </p:cNvPr>
          <p:cNvSpPr>
            <a:spLocks noGrp="1"/>
          </p:cNvSpPr>
          <p:nvPr>
            <p:ph type="title"/>
          </p:nvPr>
        </p:nvSpPr>
        <p:spPr/>
        <p:txBody>
          <a:bodyPr/>
          <a:lstStyle/>
          <a:p>
            <a:r>
              <a:rPr lang="en-US" cap="none" dirty="0"/>
              <a:t>Comparing Agile to Waterfall</a:t>
            </a:r>
          </a:p>
        </p:txBody>
      </p:sp>
      <p:sp>
        <p:nvSpPr>
          <p:cNvPr id="3" name="Content Placeholder 2">
            <a:extLst>
              <a:ext uri="{FF2B5EF4-FFF2-40B4-BE49-F238E27FC236}">
                <a16:creationId xmlns:a16="http://schemas.microsoft.com/office/drawing/2014/main" id="{A9F76045-07FE-749D-F83D-BD0F7AA1DE3A}"/>
              </a:ext>
            </a:extLst>
          </p:cNvPr>
          <p:cNvSpPr>
            <a:spLocks noGrp="1"/>
          </p:cNvSpPr>
          <p:nvPr>
            <p:ph idx="1"/>
          </p:nvPr>
        </p:nvSpPr>
        <p:spPr/>
        <p:txBody>
          <a:bodyPr>
            <a:normAutofit/>
          </a:bodyPr>
          <a:lstStyle/>
          <a:p>
            <a:r>
              <a:rPr lang="en-US" sz="2000" dirty="0"/>
              <a:t>The Waterfall model functions on a strict chronological progression: Requirements &gt; Design &gt; Coding &gt; Testing &gt; Deployment. No step can begin until its predecessor is complete. This leads to a huge technical and financial burdens when requirements change or problems occur partway through development. </a:t>
            </a:r>
          </a:p>
          <a:p>
            <a:r>
              <a:rPr lang="en-US" sz="2000" dirty="0"/>
              <a:t>Because Agile leverages smaller cycles of work, shifting requirements have minimal impact on the overall speed of development. The team is able to adjust the following sprint, and focus on the problem without causing a logjam in the production pipeline. This reduction in carry on burdens leads to better software, higher moral, </a:t>
            </a:r>
            <a:r>
              <a:rPr lang="en-US" sz="2000"/>
              <a:t>and happier clients.</a:t>
            </a:r>
          </a:p>
        </p:txBody>
      </p:sp>
    </p:spTree>
    <p:extLst>
      <p:ext uri="{BB962C8B-B14F-4D97-AF65-F5344CB8AC3E}">
        <p14:creationId xmlns:p14="http://schemas.microsoft.com/office/powerpoint/2010/main" val="1106305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13D40-90B4-FFA5-7E5F-45310E13A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A16E2-2801-6683-1D80-4FAE4EDAB444}"/>
              </a:ext>
            </a:extLst>
          </p:cNvPr>
          <p:cNvSpPr>
            <a:spLocks noGrp="1"/>
          </p:cNvSpPr>
          <p:nvPr>
            <p:ph type="title"/>
          </p:nvPr>
        </p:nvSpPr>
        <p:spPr/>
        <p:txBody>
          <a:bodyPr/>
          <a:lstStyle/>
          <a:p>
            <a:r>
              <a:rPr lang="en-US" cap="none" dirty="0"/>
              <a:t>To Waterfall or To Agile</a:t>
            </a:r>
          </a:p>
        </p:txBody>
      </p:sp>
      <p:sp>
        <p:nvSpPr>
          <p:cNvPr id="3" name="Content Placeholder 2">
            <a:extLst>
              <a:ext uri="{FF2B5EF4-FFF2-40B4-BE49-F238E27FC236}">
                <a16:creationId xmlns:a16="http://schemas.microsoft.com/office/drawing/2014/main" id="{DCD87DC1-8AB1-9A03-0116-80D60D171A91}"/>
              </a:ext>
            </a:extLst>
          </p:cNvPr>
          <p:cNvSpPr>
            <a:spLocks noGrp="1"/>
          </p:cNvSpPr>
          <p:nvPr>
            <p:ph idx="1"/>
          </p:nvPr>
        </p:nvSpPr>
        <p:spPr/>
        <p:txBody>
          <a:bodyPr>
            <a:normAutofit/>
          </a:bodyPr>
          <a:lstStyle/>
          <a:p>
            <a:r>
              <a:rPr lang="en-US" sz="2000" dirty="0"/>
              <a:t>Waterfall can work well in highly regulated environments with fixed budgets, or simple infrastructure projects with zero ambiguous requirements. </a:t>
            </a:r>
          </a:p>
          <a:p>
            <a:r>
              <a:rPr lang="en-US" sz="2000" dirty="0"/>
              <a:t>Agile requires continuous stakeholder engagement during progress reviews. If stakeholders cannot commit to regular feedback, a hybrid or waterfall model may be structurally necessary.</a:t>
            </a:r>
          </a:p>
          <a:p>
            <a:r>
              <a:rPr lang="en-US" sz="2000" dirty="0"/>
              <a:t>Agile is often better for complex software applications where final requirements evolve as users interact with the system.</a:t>
            </a:r>
          </a:p>
          <a:p>
            <a:r>
              <a:rPr lang="en-US" sz="2000" dirty="0"/>
              <a:t>Academic data shows Agile projects achieve a 40% absolute success rate compared to Waterfall's 15%, while reducing outright project failure rates from 30% down to 10%.</a:t>
            </a:r>
          </a:p>
          <a:p>
            <a:pPr lvl="0"/>
            <a:endParaRPr lang="en-US" sz="2000" dirty="0"/>
          </a:p>
        </p:txBody>
      </p:sp>
    </p:spTree>
    <p:extLst>
      <p:ext uri="{BB962C8B-B14F-4D97-AF65-F5344CB8AC3E}">
        <p14:creationId xmlns:p14="http://schemas.microsoft.com/office/powerpoint/2010/main" val="1083707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22ED7-62D7-2548-FE19-98F7606DE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49555-71F2-4A9C-C455-CA413D7DE121}"/>
              </a:ext>
            </a:extLst>
          </p:cNvPr>
          <p:cNvSpPr>
            <a:spLocks noGrp="1"/>
          </p:cNvSpPr>
          <p:nvPr>
            <p:ph type="title"/>
          </p:nvPr>
        </p:nvSpPr>
        <p:spPr/>
        <p:txBody>
          <a:bodyPr/>
          <a:lstStyle/>
          <a:p>
            <a:r>
              <a:rPr lang="en-US" cap="none" dirty="0"/>
              <a:t>Citations</a:t>
            </a:r>
          </a:p>
        </p:txBody>
      </p:sp>
      <p:sp>
        <p:nvSpPr>
          <p:cNvPr id="3" name="Content Placeholder 2">
            <a:extLst>
              <a:ext uri="{FF2B5EF4-FFF2-40B4-BE49-F238E27FC236}">
                <a16:creationId xmlns:a16="http://schemas.microsoft.com/office/drawing/2014/main" id="{057D0605-982C-3A15-75A3-46D1A2105440}"/>
              </a:ext>
            </a:extLst>
          </p:cNvPr>
          <p:cNvSpPr>
            <a:spLocks noGrp="1"/>
          </p:cNvSpPr>
          <p:nvPr>
            <p:ph idx="1"/>
          </p:nvPr>
        </p:nvSpPr>
        <p:spPr/>
        <p:txBody>
          <a:bodyPr>
            <a:normAutofit/>
          </a:bodyPr>
          <a:lstStyle/>
          <a:p>
            <a:pPr lvl="1"/>
            <a:r>
              <a:rPr lang="en-US" sz="1600" dirty="0" err="1"/>
              <a:t>Mendix</a:t>
            </a:r>
            <a:r>
              <a:rPr lang="en-US" sz="1600" dirty="0"/>
              <a:t>. (2025, August 16). </a:t>
            </a:r>
            <a:r>
              <a:rPr lang="en-US" sz="1600" i="1" dirty="0"/>
              <a:t>The 5 stages of the Agile software development lifecycle</a:t>
            </a:r>
            <a:r>
              <a:rPr lang="en-US" sz="1600" dirty="0"/>
              <a:t>. </a:t>
            </a:r>
            <a:r>
              <a:rPr lang="en-US" sz="1600" dirty="0">
                <a:hlinkClick r:id="rId2"/>
              </a:rPr>
              <a:t>https://www.mendix.com/blog/agile-software-development-lifecycle-stages/</a:t>
            </a:r>
            <a:endParaRPr lang="en-US" sz="1600" dirty="0"/>
          </a:p>
          <a:p>
            <a:pPr lvl="1"/>
            <a:r>
              <a:rPr lang="en-US" sz="1600" dirty="0"/>
              <a:t>Obaloluwa, A. A., &amp; Agbaje, M. O. (2023). Structured software development versus agile software development: a comparative analysis. </a:t>
            </a:r>
            <a:r>
              <a:rPr lang="en-US" sz="1600" i="1" dirty="0"/>
              <a:t>International Journal of System Assurance Engineering and Management</a:t>
            </a:r>
            <a:r>
              <a:rPr lang="en-US" sz="1600" dirty="0"/>
              <a:t>, </a:t>
            </a:r>
            <a:r>
              <a:rPr lang="en-US" sz="1600" i="1" dirty="0"/>
              <a:t>14</a:t>
            </a:r>
            <a:r>
              <a:rPr lang="en-US" sz="1600" dirty="0"/>
              <a:t>(3), 895–907. doi.org</a:t>
            </a:r>
          </a:p>
          <a:p>
            <a:pPr lvl="1"/>
            <a:r>
              <a:rPr lang="en-US" sz="1600" dirty="0" err="1"/>
              <a:t>Onwuzurike</a:t>
            </a:r>
            <a:r>
              <a:rPr lang="en-US" sz="1600" dirty="0"/>
              <a:t>, A. C., &amp; </a:t>
            </a:r>
            <a:r>
              <a:rPr lang="en-US" sz="1600" dirty="0" err="1"/>
              <a:t>Ezeliora</a:t>
            </a:r>
            <a:r>
              <a:rPr lang="en-US" sz="1600" dirty="0"/>
              <a:t>, C. D. (2026). Comparative analysis of Agile and traditional software development methodologies in project success. </a:t>
            </a:r>
            <a:r>
              <a:rPr lang="en-US" sz="1600" i="1" dirty="0"/>
              <a:t>Direct Research Journal of Engineering and Information Technology</a:t>
            </a:r>
            <a:r>
              <a:rPr lang="en-US" sz="1600" dirty="0"/>
              <a:t>, </a:t>
            </a:r>
            <a:r>
              <a:rPr lang="en-US" sz="1600" i="1" dirty="0"/>
              <a:t>11</a:t>
            </a:r>
            <a:r>
              <a:rPr lang="en-US" sz="1600" dirty="0"/>
              <a:t>(2), 44–53. </a:t>
            </a:r>
            <a:r>
              <a:rPr lang="en-US" sz="1600" dirty="0">
                <a:hlinkClick r:id="rId3"/>
              </a:rPr>
              <a:t>https://journals.directresearchpublisher.org/index.php/drjeit/article/view/769</a:t>
            </a:r>
            <a:endParaRPr lang="en-US" sz="1600" dirty="0"/>
          </a:p>
          <a:p>
            <a:pPr lvl="1"/>
            <a:r>
              <a:rPr lang="en-US" sz="1600" dirty="0"/>
              <a:t>Virgen, M. (2026). </a:t>
            </a:r>
            <a:r>
              <a:rPr lang="en-US" sz="1600" i="1" dirty="0"/>
              <a:t>Agile and Scrum as adaptive frameworks for managing complexity in innovation and entrepreneurship</a:t>
            </a:r>
            <a:r>
              <a:rPr lang="en-US" sz="1600" dirty="0"/>
              <a:t> (SSRN Scholarly Paper 6160652). Social Science Research Network. </a:t>
            </a:r>
            <a:r>
              <a:rPr lang="en-US" sz="1600" dirty="0">
                <a:hlinkClick r:id="rId4"/>
              </a:rPr>
              <a:t>https://papers.ssrn.com/sol3/papers.cfm?abstract_id=6160652</a:t>
            </a:r>
            <a:endParaRPr lang="en-US" sz="1600" dirty="0"/>
          </a:p>
        </p:txBody>
      </p:sp>
    </p:spTree>
    <p:extLst>
      <p:ext uri="{BB962C8B-B14F-4D97-AF65-F5344CB8AC3E}">
        <p14:creationId xmlns:p14="http://schemas.microsoft.com/office/powerpoint/2010/main" val="3634685950"/>
      </p:ext>
    </p:extLst>
  </p:cSld>
  <p:clrMapOvr>
    <a:masterClrMapping/>
  </p:clrMapOvr>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docProps/app.xml><?xml version="1.0" encoding="utf-8"?>
<Properties xmlns="http://schemas.openxmlformats.org/officeDocument/2006/extended-properties" xmlns:vt="http://schemas.openxmlformats.org/officeDocument/2006/docPropsVTypes">
  <Template>Modulo</Template>
  <TotalTime>104</TotalTime>
  <Words>751</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Modulo</vt:lpstr>
      <vt:lpstr>Agile Transition Recap</vt:lpstr>
      <vt:lpstr>Agile Roles</vt:lpstr>
      <vt:lpstr>Agile Phases</vt:lpstr>
      <vt:lpstr>Comparing Agile to Waterfall</vt:lpstr>
      <vt:lpstr>To Waterfall or To Agile</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Byrd, Caleb</dc:creator>
  <cp:lastModifiedBy>Byrd, Caleb</cp:lastModifiedBy>
  <cp:revision>3</cp:revision>
  <dcterms:created xsi:type="dcterms:W3CDTF">2026-10-14T22:22:02Z</dcterms:created>
  <dcterms:modified xsi:type="dcterms:W3CDTF">2026-10-15T00:06:29Z</dcterms:modified>
</cp:coreProperties>
</file>